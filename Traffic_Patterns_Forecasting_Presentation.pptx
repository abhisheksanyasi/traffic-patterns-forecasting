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Traffic Patterns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Time Series Forecasting using PEMS-BAY Traffic Data</a:t>
            </a:r>
          </a:p>
          <a:p>
            <a:pPr>
              <a:spcAft>
                <a:spcPts val="1000"/>
              </a:spcAft>
              <a:defRPr sz="2200"/>
            </a:pPr>
            <a:r>
              <a:t>Machine Learning + LSTM-based forecasting</a:t>
            </a:r>
          </a:p>
          <a:p>
            <a:pPr>
              <a:spcAft>
                <a:spcPts val="1000"/>
              </a:spcAft>
              <a:defRPr sz="2200"/>
            </a:pPr>
            <a:r>
              <a:t>Forecast horizon: next 1 hour at 5-minute intervals</a:t>
            </a:r>
          </a:p>
          <a:p>
            <a:pPr>
              <a:spcAft>
                <a:spcPts val="1000"/>
              </a:spcAft>
              <a:defRPr sz="2200"/>
            </a:pPr>
            <a:r>
              <a:t>Python • Pandas • Scikit-learn • TensorFlow/Keras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Traffic conditions change continuously throughout the day.</a:t>
            </a:r>
          </a:p>
          <a:p>
            <a:pPr>
              <a:spcAft>
                <a:spcPts val="1000"/>
              </a:spcAft>
              <a:defRPr sz="2000"/>
            </a:pPr>
            <a:r>
              <a:t>Recurring rush-hour, weekday and short-term patterns make traffic forecasting a time-series problem.</a:t>
            </a:r>
          </a:p>
          <a:p>
            <a:pPr>
              <a:spcAft>
                <a:spcPts val="1000"/>
              </a:spcAft>
              <a:defRPr sz="2000"/>
            </a:pPr>
            <a:r>
              <a:t>The objective is to use historical traffic observations to estimate future traffic speed.</a:t>
            </a:r>
          </a:p>
          <a:p>
            <a:pPr>
              <a:spcAft>
                <a:spcPts val="1000"/>
              </a:spcAft>
              <a:defRPr sz="2000"/>
            </a:pPr>
            <a:r>
              <a:t>The project focuses on a practical one-hour forecasting horizon.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Collect and prepare public traffic sensor data.</a:t>
            </a:r>
          </a:p>
          <a:p>
            <a:pPr>
              <a:spcAft>
                <a:spcPts val="1000"/>
              </a:spcAft>
              <a:defRPr sz="2000"/>
            </a:pPr>
            <a:r>
              <a:t>Explore daily and weekly traffic patterns.</a:t>
            </a:r>
          </a:p>
          <a:p>
            <a:pPr>
              <a:spcAft>
                <a:spcPts val="1000"/>
              </a:spcAft>
              <a:defRPr sz="2000"/>
            </a:pPr>
            <a:r>
              <a:t>Engineer temporal and lag-based features.</a:t>
            </a:r>
          </a:p>
          <a:p>
            <a:pPr>
              <a:spcAft>
                <a:spcPts val="1000"/>
              </a:spcAft>
              <a:defRPr sz="2000"/>
            </a:pPr>
            <a:r>
              <a:t>Build a simple persistence baseline.</a:t>
            </a:r>
          </a:p>
          <a:p>
            <a:pPr>
              <a:spcAft>
                <a:spcPts val="1000"/>
              </a:spcAft>
              <a:defRPr sz="2000"/>
            </a:pPr>
            <a:r>
              <a:t>Train Random Forest and LSTM forecasting models.</a:t>
            </a:r>
          </a:p>
          <a:p>
            <a:pPr>
              <a:spcAft>
                <a:spcPts val="1000"/>
              </a:spcAft>
              <a:defRPr sz="2000"/>
            </a:pPr>
            <a:r>
              <a:t>Evaluate predictions using MAE, RMSE and R².</a:t>
            </a:r>
          </a:p>
          <a:p>
            <a:pPr>
              <a:spcAft>
                <a:spcPts val="1000"/>
              </a:spcAft>
              <a:defRPr sz="2000"/>
            </a:pPr>
            <a:r>
              <a:t>Generate a 12-step / 1-hour future forecast.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Dataset — PEMS-BAY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Public traffic forecasting benchmark.</a:t>
            </a:r>
          </a:p>
          <a:p>
            <a:pPr>
              <a:spcAft>
                <a:spcPts val="1000"/>
              </a:spcAft>
              <a:defRPr sz="2000"/>
            </a:pPr>
            <a:r>
              <a:t>325 traffic sensors.</a:t>
            </a:r>
          </a:p>
          <a:p>
            <a:pPr>
              <a:spcAft>
                <a:spcPts val="1000"/>
              </a:spcAft>
              <a:defRPr sz="2000"/>
            </a:pPr>
            <a:r>
              <a:t>Measurements sampled every 5 minutes.</a:t>
            </a:r>
          </a:p>
          <a:p>
            <a:pPr>
              <a:spcAft>
                <a:spcPts val="1000"/>
              </a:spcAft>
              <a:defRPr sz="2000"/>
            </a:pPr>
            <a:r>
              <a:t>Traffic-speed observations over historical time.</a:t>
            </a:r>
          </a:p>
          <a:p>
            <a:pPr>
              <a:spcAft>
                <a:spcPts val="1000"/>
              </a:spcAft>
              <a:defRPr sz="2000"/>
            </a:pPr>
            <a:r>
              <a:t>Useful for studying recurring and short-term traffic behavior.</a:t>
            </a:r>
          </a:p>
          <a:p>
            <a:pPr>
              <a:spcAft>
                <a:spcPts val="1000"/>
              </a:spcAft>
              <a:defRPr sz="2000"/>
            </a:pPr>
            <a:r>
              <a:t>The notebook downloads the public CSV automatically.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Data download</a:t>
            </a:r>
          </a:p>
          <a:p>
            <a:pPr>
              <a:spcAft>
                <a:spcPts val="1000"/>
              </a:spcAft>
              <a:defRPr sz="2000"/>
            </a:pPr>
            <a:r>
              <a:t>→ Data cleaning</a:t>
            </a:r>
          </a:p>
          <a:p>
            <a:pPr>
              <a:spcAft>
                <a:spcPts val="1000"/>
              </a:spcAft>
              <a:defRPr sz="2000"/>
            </a:pPr>
            <a:r>
              <a:t>→ Exploratory data analysis</a:t>
            </a:r>
          </a:p>
          <a:p>
            <a:pPr>
              <a:spcAft>
                <a:spcPts val="1000"/>
              </a:spcAft>
              <a:defRPr sz="2000"/>
            </a:pPr>
            <a:r>
              <a:t>→ Feature engineering</a:t>
            </a:r>
          </a:p>
          <a:p>
            <a:pPr>
              <a:spcAft>
                <a:spcPts val="1000"/>
              </a:spcAft>
              <a:defRPr sz="2000"/>
            </a:pPr>
            <a:r>
              <a:t>→ Chronological train / validation / test split</a:t>
            </a:r>
          </a:p>
          <a:p>
            <a:pPr>
              <a:spcAft>
                <a:spcPts val="1000"/>
              </a:spcAft>
              <a:defRPr sz="2000"/>
            </a:pPr>
            <a:r>
              <a:t>→ Baseline + Random Forest + LSTM</a:t>
            </a:r>
          </a:p>
          <a:p>
            <a:pPr>
              <a:spcAft>
                <a:spcPts val="1000"/>
              </a:spcAft>
              <a:defRPr sz="2000"/>
            </a:pPr>
            <a:r>
              <a:t>→ Model evaluation</a:t>
            </a:r>
          </a:p>
          <a:p>
            <a:pPr>
              <a:spcAft>
                <a:spcPts val="1000"/>
              </a:spcAft>
              <a:defRPr sz="2000"/>
            </a:pPr>
            <a:r>
              <a:t>→ One-hour traffic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Full historical traffic series is plotted to understand long-term variation.</a:t>
            </a:r>
          </a:p>
          <a:p>
            <a:pPr>
              <a:spcAft>
                <a:spcPts val="1000"/>
              </a:spcAft>
              <a:defRPr sz="2000"/>
            </a:pPr>
            <a:r>
              <a:t>The latest seven-day segment is examined for recurring short-term patterns.</a:t>
            </a:r>
          </a:p>
          <a:p>
            <a:pPr>
              <a:spcAft>
                <a:spcPts val="1000"/>
              </a:spcAft>
              <a:defRPr sz="2000"/>
            </a:pPr>
            <a:r>
              <a:t>Hourly averages reveal intraday traffic behavior.</a:t>
            </a:r>
          </a:p>
          <a:p>
            <a:pPr>
              <a:spcAft>
                <a:spcPts val="1000"/>
              </a:spcAft>
              <a:defRPr sz="2000"/>
            </a:pPr>
            <a:r>
              <a:t>Weekday averages reveal differences between weekdays and weekends.</a:t>
            </a:r>
          </a:p>
          <a:p>
            <a:pPr>
              <a:spcAft>
                <a:spcPts val="1000"/>
              </a:spcAft>
              <a:defRPr sz="2000"/>
            </a:pPr>
            <a:r>
              <a:t>These patterns motivate calendar and lag features.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Lag features capture previous traffic conditions.</a:t>
            </a:r>
          </a:p>
          <a:p>
            <a:pPr>
              <a:spcAft>
                <a:spcPts val="1000"/>
              </a:spcAft>
              <a:defRPr sz="2000"/>
            </a:pPr>
            <a:r>
              <a:t>1, 3, 6 and 12 steps represent 5-minute to 1-hour history.</a:t>
            </a:r>
          </a:p>
          <a:p>
            <a:pPr>
              <a:spcAft>
                <a:spcPts val="1000"/>
              </a:spcAft>
              <a:defRPr sz="2000"/>
            </a:pPr>
            <a:r>
              <a:t>288 steps represent approximately one day.</a:t>
            </a:r>
          </a:p>
          <a:p>
            <a:pPr>
              <a:spcAft>
                <a:spcPts val="1000"/>
              </a:spcAft>
              <a:defRPr sz="2000"/>
            </a:pPr>
            <a:r>
              <a:t>2016 steps represent approximately one week.</a:t>
            </a:r>
          </a:p>
          <a:p>
            <a:pPr>
              <a:spcAft>
                <a:spcPts val="1000"/>
              </a:spcAft>
              <a:defRPr sz="2000"/>
            </a:pPr>
            <a:r>
              <a:t>Rolling mean and standard deviation capture local traffic behavior.</a:t>
            </a:r>
          </a:p>
          <a:p>
            <a:pPr>
              <a:spcAft>
                <a:spcPts val="1000"/>
              </a:spcAft>
              <a:defRPr sz="2000"/>
            </a:pPr>
            <a:r>
              <a:t>Cyclic hour and weekday features represent periodic patterns.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Time-Series Data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70% of observations are used for training.</a:t>
            </a:r>
          </a:p>
          <a:p>
            <a:pPr>
              <a:spcAft>
                <a:spcPts val="1000"/>
              </a:spcAft>
              <a:defRPr sz="2000"/>
            </a:pPr>
            <a:r>
              <a:t>15% are used for validation.</a:t>
            </a:r>
          </a:p>
          <a:p>
            <a:pPr>
              <a:spcAft>
                <a:spcPts val="1000"/>
              </a:spcAft>
              <a:defRPr sz="2000"/>
            </a:pPr>
            <a:r>
              <a:t>15% are reserved for final testing.</a:t>
            </a:r>
          </a:p>
          <a:p>
            <a:pPr>
              <a:spcAft>
                <a:spcPts val="1000"/>
              </a:spcAft>
              <a:defRPr sz="2000"/>
            </a:pPr>
            <a:r>
              <a:t>The chronological order is preserved.</a:t>
            </a:r>
          </a:p>
          <a:p>
            <a:pPr>
              <a:spcAft>
                <a:spcPts val="1000"/>
              </a:spcAft>
              <a:defRPr sz="2000"/>
            </a:pPr>
            <a:r>
              <a:t>Random splitting is avoided to reduce future-information leakage.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Random Forest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Random Forest learns nonlinear relationships between temporal features and traffic speed.</a:t>
            </a:r>
          </a:p>
          <a:p>
            <a:pPr>
              <a:spcAft>
                <a:spcPts val="1000"/>
              </a:spcAft>
              <a:defRPr sz="2000"/>
            </a:pPr>
            <a:r>
              <a:t>Input features include lags, calendar variables and rolling statistics.</a:t>
            </a:r>
          </a:p>
          <a:p>
            <a:pPr>
              <a:spcAft>
                <a:spcPts val="1000"/>
              </a:spcAft>
              <a:defRPr sz="2000"/>
            </a:pPr>
            <a:r>
              <a:t>250 decision trees are used in the notebook configuration.</a:t>
            </a:r>
          </a:p>
          <a:p>
            <a:pPr>
              <a:spcAft>
                <a:spcPts val="1000"/>
              </a:spcAft>
              <a:defRPr sz="2000"/>
            </a:pPr>
            <a:r>
              <a:t>Feature importance is visualized to identify influential predictors.</a:t>
            </a:r>
          </a:p>
          <a:p>
            <a:pPr>
              <a:spcAft>
                <a:spcPts val="1000"/>
              </a:spcAft>
              <a:defRPr sz="2000"/>
            </a:pPr>
            <a:r>
              <a:t>It provides a strong non-neural comparison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LSTM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LSTM is designed for sequential data and temporal dependencies.</a:t>
            </a:r>
          </a:p>
          <a:p>
            <a:pPr>
              <a:spcAft>
                <a:spcPts val="1000"/>
              </a:spcAft>
              <a:defRPr sz="2000"/>
            </a:pPr>
            <a:r>
              <a:t>The model receives a 24-hour history window.</a:t>
            </a:r>
          </a:p>
          <a:p>
            <a:pPr>
              <a:spcAft>
                <a:spcPts val="1000"/>
              </a:spcAft>
              <a:defRPr sz="2000"/>
            </a:pPr>
            <a:r>
              <a:t>24 hours × 12 observations per hour = 288 input steps.</a:t>
            </a:r>
          </a:p>
          <a:p>
            <a:pPr>
              <a:spcAft>
                <a:spcPts val="1000"/>
              </a:spcAft>
              <a:defRPr sz="2000"/>
            </a:pPr>
            <a:r>
              <a:t>Architecture: LSTM(64) → Dropout → LSTM(32) → Dropout → Dense layers.</a:t>
            </a:r>
          </a:p>
          <a:p>
            <a:pPr>
              <a:spcAft>
                <a:spcPts val="1000"/>
              </a:spcAft>
              <a:defRPr sz="2000"/>
            </a:pPr>
            <a:r>
              <a:t>Early stopping monitors validation loss.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10. Model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MAE measures average absolute prediction error.</a:t>
            </a:r>
          </a:p>
          <a:p>
            <a:pPr>
              <a:spcAft>
                <a:spcPts val="1000"/>
              </a:spcAft>
              <a:defRPr sz="2000"/>
            </a:pPr>
            <a:r>
              <a:t>RMSE emphasizes larger prediction errors.</a:t>
            </a:r>
          </a:p>
          <a:p>
            <a:pPr>
              <a:spcAft>
                <a:spcPts val="1000"/>
              </a:spcAft>
              <a:defRPr sz="2000"/>
            </a:pPr>
            <a:r>
              <a:t>R² measures explained variation on the evaluation data.</a:t>
            </a:r>
          </a:p>
          <a:p>
            <a:pPr>
              <a:spcAft>
                <a:spcPts val="1000"/>
              </a:spcAft>
              <a:defRPr sz="2000"/>
            </a:pPr>
            <a:r>
              <a:t>The persistence baseline provides a simple reference.</a:t>
            </a:r>
          </a:p>
          <a:p>
            <a:pPr>
              <a:spcAft>
                <a:spcPts val="1000"/>
              </a:spcAft>
              <a:defRPr sz="2000"/>
            </a:pPr>
            <a:r>
              <a:t>Random Forest and LSTM predictions are evaluated on held-out chronological test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11. Future Forecast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The trained LSTM uses the latest 24 hours of observations.</a:t>
            </a:r>
          </a:p>
          <a:p>
            <a:pPr>
              <a:spcAft>
                <a:spcPts val="1000"/>
              </a:spcAft>
              <a:defRPr sz="2000"/>
            </a:pPr>
            <a:r>
              <a:t>It recursively predicts the next 12 five-minute steps.</a:t>
            </a:r>
          </a:p>
          <a:p>
            <a:pPr>
              <a:spcAft>
                <a:spcPts val="1000"/>
              </a:spcAft>
              <a:defRPr sz="2000"/>
            </a:pPr>
            <a:r>
              <a:t>12 × 5 minutes = 60 minutes.</a:t>
            </a:r>
          </a:p>
          <a:p>
            <a:pPr>
              <a:spcAft>
                <a:spcPts val="1000"/>
              </a:spcAft>
              <a:defRPr sz="2000"/>
            </a:pPr>
            <a:r>
              <a:t>The notebook outputs forecast timestamps and predicted traffic speed.</a:t>
            </a:r>
          </a:p>
          <a:p>
            <a:pPr>
              <a:spcAft>
                <a:spcPts val="1000"/>
              </a:spcAft>
              <a:defRPr sz="2000"/>
            </a:pPr>
            <a:r>
              <a:t>A visualization compares recent historical traffic with the future forecast.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12. Applications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Intelligent transportation systems</a:t>
            </a:r>
          </a:p>
          <a:p>
            <a:pPr>
              <a:spcAft>
                <a:spcPts val="1000"/>
              </a:spcAft>
              <a:defRPr sz="2000"/>
            </a:pPr>
            <a:r>
              <a:t>Congestion monitoring and travel-time estimation</a:t>
            </a:r>
          </a:p>
          <a:p>
            <a:pPr>
              <a:spcAft>
                <a:spcPts val="1000"/>
              </a:spcAft>
              <a:defRPr sz="2000"/>
            </a:pPr>
            <a:r>
              <a:t>Route and fleet planning</a:t>
            </a:r>
          </a:p>
          <a:p>
            <a:pPr>
              <a:spcAft>
                <a:spcPts val="1000"/>
              </a:spcAft>
              <a:defRPr sz="2000"/>
            </a:pPr>
            <a:r>
              <a:t>Traffic signal optimization</a:t>
            </a:r>
          </a:p>
          <a:p>
            <a:pPr>
              <a:spcAft>
                <a:spcPts val="1000"/>
              </a:spcAft>
              <a:defRPr sz="2000"/>
            </a:pPr>
            <a:r>
              <a:t>Add weather, holidays and incidents</a:t>
            </a:r>
          </a:p>
          <a:p>
            <a:pPr>
              <a:spcAft>
                <a:spcPts val="1000"/>
              </a:spcAft>
              <a:defRPr sz="2000"/>
            </a:pPr>
            <a:r>
              <a:t>Extend to multi-sensor forecasting</a:t>
            </a:r>
          </a:p>
          <a:p>
            <a:pPr>
              <a:spcAft>
                <a:spcPts val="1000"/>
              </a:spcAft>
              <a:defRPr sz="2000"/>
            </a:pPr>
            <a:r>
              <a:t>Explore Graph Neural Networks and Transformer models</a:t>
            </a:r>
          </a:p>
          <a:p>
            <a:pPr>
              <a:spcAft>
                <a:spcPts val="1000"/>
              </a:spcAft>
              <a:defRPr sz="2000"/>
            </a:pPr>
            <a:r>
              <a:t>Connect the pipeline to live traffic data for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Traffic forecasting can be approached effectively as a time-series prediction problem.</a:t>
            </a:r>
          </a:p>
          <a:p>
            <a:pPr>
              <a:spcAft>
                <a:spcPts val="1000"/>
              </a:spcAft>
              <a:defRPr sz="2000"/>
            </a:pPr>
            <a:r>
              <a:t>Temporal features help conventional machine-learning models capture recurring traffic behavior.</a:t>
            </a:r>
          </a:p>
          <a:p>
            <a:pPr>
              <a:spcAft>
                <a:spcPts val="1000"/>
              </a:spcAft>
              <a:defRPr sz="2000"/>
            </a:pPr>
            <a:r>
              <a:t>LSTM provides a sequence-based approach for learning temporal dependencies.</a:t>
            </a:r>
          </a:p>
          <a:p>
            <a:pPr>
              <a:spcAft>
                <a:spcPts val="1000"/>
              </a:spcAft>
              <a:defRPr sz="2000"/>
            </a:pPr>
            <a:r>
              <a:t>The project demonstrates the complete pipeline from public data to future forecasting.</a:t>
            </a:r>
          </a:p>
          <a:p>
            <a:pPr>
              <a:spcAft>
                <a:spcPts val="1000"/>
              </a:spcAft>
              <a:defRPr sz="2000"/>
            </a:pPr>
            <a:r>
              <a:t>The notebook is designed as a foundation for more advanced real-time traffic forecasting.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Li et al. — Diffusion Convolutional Recurrent Neural Network: Data-Driven Traffic Forecasting, ICLR 2018.</a:t>
            </a:r>
          </a:p>
          <a:p>
            <a:pPr>
              <a:spcAft>
                <a:spcPts val="1000"/>
              </a:spcAft>
              <a:defRPr sz="2000"/>
            </a:pPr>
            <a:r>
              <a:t>PEMS-BAY public traffic forecasting benchmark.</a:t>
            </a:r>
          </a:p>
          <a:p>
            <a:pPr>
              <a:spcAft>
                <a:spcPts val="1000"/>
              </a:spcAft>
              <a:defRPr sz="2000"/>
            </a:pPr>
            <a:r>
              <a:t>Zenodo public dataset archive.</a:t>
            </a:r>
          </a:p>
          <a:p>
            <a:pPr>
              <a:spcAft>
                <a:spcPts val="1000"/>
              </a:spcAft>
              <a:defRPr sz="2000"/>
            </a:pPr>
            <a:r>
              <a:t>Hugging Face processed PEMS-BAY benchmark resources.</a:t>
            </a:r>
          </a:p>
          <a:p>
            <a:pPr>
              <a:spcAft>
                <a:spcPts val="1000"/>
              </a:spcAft>
              <a:defRPr sz="2000"/>
            </a:pPr>
            <a:r>
              <a:t>Project notebook: Traffic_Patterns_Forecasting_PEMS_BAY.ipynb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Traffic Patterns Forecasting  |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